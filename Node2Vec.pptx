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09" r:id="rId6"/>
    <p:sldId id="318" r:id="rId7"/>
    <p:sldId id="310" r:id="rId8"/>
    <p:sldId id="319" r:id="rId9"/>
    <p:sldId id="320" r:id="rId10"/>
    <p:sldId id="321" r:id="rId11"/>
    <p:sldId id="322" r:id="rId12"/>
    <p:sldId id="323" r:id="rId13"/>
    <p:sldId id="324" r:id="rId14"/>
    <p:sldId id="32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2/10/2025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EFDD-B939-A423-C35D-0FE38DFC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FB38A-CF02-A57A-FDEC-7F65DB426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539F8-DD0A-5133-02E4-B5BCB4440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4502E-10CC-1951-BDFC-F9807E49D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086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731FB-0FA5-C75A-313A-618FBC5E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D99CF-914E-93AD-46B2-459CDFACF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7BCC9-1F36-DDF3-2FFA-47AB505E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16275-E432-F2AD-AD01-F0654CC09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5848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593B-91AB-0F3A-26B1-5DB2B0F5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C1AEB-53DD-8D6D-6A95-15EA3887D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73F64-69D4-7EDE-2575-A4284275A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D72E4-5A53-2870-EE8C-C174F8609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4254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B47D5-A2EE-5042-36FD-866B94D2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88648-EE47-FCF5-4E86-443BE8368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A12F0-7228-854A-4D1A-57236631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3974B-0A0B-507B-2DE0-3EA7EE927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7510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74E0-EC4E-DA89-75DE-15192416E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309FE-36EA-05A7-4235-DFD35F89E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2C585-EDCD-6CB0-0357-16EB6C85B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ABA26-6A02-01E4-5B85-C19C8C277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2378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162E-32D9-C6D9-588C-66C509CA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669D4-3DD5-37B4-94A0-6FA6AD9B1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EAC97-C09C-7C87-0D97-FE4D79C93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B524D-0F03-9EC5-2691-A4553C964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247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F907-76E1-AD54-1246-B2FC05F1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335AF-EBCB-9889-BB2A-CF11B4795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466E5-585D-B38F-620A-0730BA81B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04A18-C384-0AD6-FF8F-3741C038C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3648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Node2Vec: Scalable Feature Learning for Networks 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8A83398-E627-F362-689D-C9B305B9EC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676"/>
    </mc:Choice>
    <mc:Fallback>
      <p:transition spd="slow" advTm="37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 STATEMENT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9756742" cy="440882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Goal of representation learning: </a:t>
            </a:r>
            <a:r>
              <a:rPr lang="en-US" dirty="0"/>
              <a:t>given a graph G(V,E) with nodes V and edges E,  our objective is to learn a mapping :              where d&lt;&lt;|V|.</a:t>
            </a:r>
          </a:p>
          <a:p>
            <a:r>
              <a:rPr lang="en-US" dirty="0"/>
              <a:t>We can then train traditional neural networks on these new features. Traditional CNNs and RNNs cannot usually operate on graphs as nodes don’t usually have natural feature vectors.</a:t>
            </a:r>
          </a:p>
          <a:p>
            <a:r>
              <a:rPr lang="en-US" dirty="0"/>
              <a:t>Classical graph-learning involves extracting graph-theoretic properties like degree, centrality, page rank, etc.</a:t>
            </a:r>
          </a:p>
          <a:p>
            <a:r>
              <a:rPr lang="en-US" dirty="0"/>
              <a:t>Existing approaches:</a:t>
            </a:r>
          </a:p>
          <a:p>
            <a:pPr lvl="1"/>
            <a:r>
              <a:rPr lang="en-US" dirty="0"/>
              <a:t>Matrix Factorization-Based Methods (e.g., Spectral Clustering)</a:t>
            </a:r>
          </a:p>
          <a:p>
            <a:pPr lvl="2"/>
            <a:r>
              <a:rPr lang="en-US" dirty="0"/>
              <a:t>These rely on eigen-decomposition of the graph adjacency matrix.</a:t>
            </a:r>
          </a:p>
          <a:p>
            <a:pPr lvl="2"/>
            <a:r>
              <a:rPr lang="en-US" dirty="0"/>
              <a:t>Computationally expensive (O(n^3)), making them impractical for large-scale graphs.</a:t>
            </a:r>
          </a:p>
          <a:p>
            <a:pPr lvl="1"/>
            <a:r>
              <a:rPr lang="en-US" dirty="0" err="1"/>
              <a:t>DeepWalk</a:t>
            </a:r>
            <a:r>
              <a:rPr lang="en-US" dirty="0"/>
              <a:t> (</a:t>
            </a:r>
            <a:r>
              <a:rPr lang="en-US" dirty="0" err="1"/>
              <a:t>Perozzi</a:t>
            </a:r>
            <a:r>
              <a:rPr lang="en-US" dirty="0"/>
              <a:t> et al., 2014)</a:t>
            </a:r>
          </a:p>
          <a:p>
            <a:pPr lvl="2"/>
            <a:r>
              <a:rPr lang="en-US" dirty="0"/>
              <a:t>Uses random walks to sample node neighborhoods and then applies Word2Vec (</a:t>
            </a:r>
            <a:r>
              <a:rPr lang="en-US" dirty="0" err="1"/>
              <a:t>Mikolov</a:t>
            </a:r>
            <a:r>
              <a:rPr lang="en-US" dirty="0"/>
              <a:t> et al., 2013).</a:t>
            </a:r>
          </a:p>
          <a:p>
            <a:pPr lvl="2"/>
            <a:r>
              <a:rPr lang="en-US" dirty="0"/>
              <a:t>Limitation: Uses only unbiased short random walks, restricting its ability to model different types of graph structures.</a:t>
            </a:r>
          </a:p>
          <a:p>
            <a:pPr lvl="1"/>
            <a:r>
              <a:rPr lang="en-US" dirty="0"/>
              <a:t>LINE (Tang et al., 2015)</a:t>
            </a:r>
          </a:p>
          <a:p>
            <a:pPr lvl="2"/>
            <a:r>
              <a:rPr lang="en-US" dirty="0"/>
              <a:t>Captures first-order and second-order proximities but lacks flexibility in defining node relationships.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E0938-0113-DB9B-EF7B-736B1541B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438" y="2266516"/>
            <a:ext cx="825577" cy="351310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2AB180AA-3C03-BA6A-AB7C-2C1C2C7C4C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498"/>
    </mc:Choice>
    <mc:Fallback>
      <p:transition spd="slow" advTm="634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5DD9-8F51-FF3E-3E64-0D2584AB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C5EC6C-3A7E-051C-B5E2-B4611F342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Node2Vec Technical Breakdown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949429A-DCFA-9233-8B5F-B86C26A3A3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18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46"/>
    </mc:Choice>
    <mc:Fallback>
      <p:transition spd="slow" advTm="14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80" y="0"/>
            <a:ext cx="10360152" cy="914400"/>
          </a:xfrm>
        </p:spPr>
        <p:txBody>
          <a:bodyPr/>
          <a:lstStyle/>
          <a:p>
            <a:r>
              <a:rPr lang="en-US" sz="3200" dirty="0"/>
              <a:t>FEATURE LEARNING FRAMEWORK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6380" y="914399"/>
            <a:ext cx="10859991" cy="563722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Objective: learn the node-vector mapping.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Traditional methods like </a:t>
            </a:r>
            <a:r>
              <a:rPr lang="en-US" b="1" dirty="0" err="1"/>
              <a:t>DeepWalk</a:t>
            </a:r>
            <a:r>
              <a:rPr lang="en-US" dirty="0"/>
              <a:t> use </a:t>
            </a:r>
            <a:r>
              <a:rPr lang="en-US" b="1" dirty="0"/>
              <a:t>unbiased random walks</a:t>
            </a:r>
            <a:r>
              <a:rPr lang="en-US" dirty="0"/>
              <a:t> to define node neighborhoods, which leads to a fixed exploration strategy.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differentiator: </a:t>
            </a:r>
            <a:r>
              <a:rPr lang="en-US" b="1" dirty="0"/>
              <a:t>BIASED WALKS, </a:t>
            </a:r>
            <a:r>
              <a:rPr lang="en-US" dirty="0"/>
              <a:t>with parameters </a:t>
            </a:r>
            <a:r>
              <a:rPr lang="en-US" b="1" dirty="0"/>
              <a:t>p</a:t>
            </a:r>
            <a:r>
              <a:rPr lang="en-US" dirty="0"/>
              <a:t> and </a:t>
            </a:r>
            <a:r>
              <a:rPr lang="en-US" b="1" dirty="0"/>
              <a:t>q.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SKIP-GRAM OPTIMIZATION: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Once node neighborhoods are generated using the biased random walks, node2vec optimizes the embeddings using the </a:t>
            </a:r>
            <a:r>
              <a:rPr lang="en-US" b="1" dirty="0"/>
              <a:t>Skip-Gram model</a:t>
            </a:r>
            <a:r>
              <a:rPr lang="en-US" dirty="0"/>
              <a:t> from Word2Vec: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make two assumptions to make the problem traceable: conditional independence of the likelihood of observing a neighborhood node, and symmetry in feature space, meaning “A source node and neighborhood node have a symmetric effect over each other in feature space”, to quote the paper.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48DB3-F60B-1683-C13C-8AC59FD8E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599" y="3524350"/>
            <a:ext cx="3248478" cy="695422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C5CFFCC3-9B35-52BC-643F-D1CA26F2C4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819"/>
    </mc:Choice>
    <mc:Fallback>
      <p:transition spd="slow" advTm="478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AE3F-484E-29E3-5338-8D497C47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AE7293-A5EC-EECE-6CCF-6A764119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559" y="0"/>
            <a:ext cx="10360152" cy="914400"/>
          </a:xfrm>
        </p:spPr>
        <p:txBody>
          <a:bodyPr/>
          <a:lstStyle/>
          <a:p>
            <a:r>
              <a:rPr lang="en-US" sz="3200" dirty="0"/>
              <a:t>BIASED RANDOM WALKS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9B1B75D-9757-F8D9-44A3-849EBCDCB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9558" y="914400"/>
            <a:ext cx="11180189" cy="579748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markovian</a:t>
            </a:r>
            <a:r>
              <a:rPr lang="en-US" dirty="0"/>
              <a:t> transition probability from a node c(i-1) to a node c(</a:t>
            </a:r>
            <a:r>
              <a:rPr lang="en-US" dirty="0" err="1"/>
              <a:t>i</a:t>
            </a:r>
            <a:r>
              <a:rPr lang="en-US" dirty="0"/>
              <a:t>) is given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Where d(</a:t>
            </a:r>
            <a:r>
              <a:rPr lang="en-US" dirty="0" err="1"/>
              <a:t>t,x</a:t>
            </a:r>
            <a:r>
              <a:rPr lang="en-US" dirty="0"/>
              <a:t>) is the shortest path distance between 𝑡 (the previous node) and 𝑥 (the candidate node).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the walk is a Markovian process, the Chapman-Kolmogorov equations certainly apply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Interpreting the Parameters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Return Parameter 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p(p&gt;1) → Encourages local exploration (higher chance of revisiting the last node).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p (p&lt;1) → Encourages outward exploration (less chance of returning to the last node).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In-Out Parameter q: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q(q&gt;1) → Prefers BFS-like behavior (stays within local clusters).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q (q&lt;1) → Prefers DFS-like behavior (long-range exploration).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A26F64-643D-0155-FF07-1A9C623B0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954" y="1284587"/>
            <a:ext cx="3807376" cy="676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7CBBAA-F8FB-3E67-6E97-AD2764181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1954" y="2212222"/>
            <a:ext cx="3882790" cy="780461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869B9C85-CF51-3153-B891-32535E2D58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88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358"/>
    </mc:Choice>
    <mc:Fallback>
      <p:transition spd="slow" advTm="323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E22F8-C778-897E-8257-E36D7AB7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CD25E5-B2F0-E3AC-C009-25923B4E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1208470" cy="914400"/>
          </a:xfrm>
        </p:spPr>
        <p:txBody>
          <a:bodyPr/>
          <a:lstStyle/>
          <a:p>
            <a:r>
              <a:rPr lang="da-DK" dirty="0"/>
              <a:t>SKIP-GRAM OPTIMIZATION FOR NODE EMBEDDINGS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991810D-FD87-01EC-B2E6-AD13A046760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064096"/>
            <a:ext cx="10878532" cy="557237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Let’s properly define the probability P(n(</a:t>
            </a:r>
            <a:r>
              <a:rPr lang="en-US" dirty="0" err="1"/>
              <a:t>i</a:t>
            </a:r>
            <a:r>
              <a:rPr lang="en-US" dirty="0"/>
              <a:t>)|f(u)) we talked about in the feature learning slide: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use the </a:t>
            </a:r>
            <a:r>
              <a:rPr lang="en-US" b="1" dirty="0" err="1"/>
              <a:t>softmax</a:t>
            </a:r>
            <a:r>
              <a:rPr lang="en-US" b="1" dirty="0"/>
              <a:t> </a:t>
            </a:r>
            <a:r>
              <a:rPr lang="en-US" dirty="0"/>
              <a:t>function to ensure that nodes appearing frequently in sampled walks will have embeddings closer together.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optimize by using </a:t>
            </a:r>
            <a:r>
              <a:rPr lang="en-US" b="1" dirty="0"/>
              <a:t>NEGATIVE SAMPLING </a:t>
            </a:r>
            <a:r>
              <a:rPr lang="en-US" dirty="0"/>
              <a:t>instead of full </a:t>
            </a:r>
            <a:r>
              <a:rPr lang="en-US" dirty="0" err="1"/>
              <a:t>softmax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Instead of computing probabilities over all nodes, we train the model by distinguishing between: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Positive pairs (𝑢,𝑛(𝑖)​ ) that appear together in random walks.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Negative pairs (𝑢,𝑣′) where 𝑣′  is a randomly sampled node that is not in the sampled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then perform gradient updates using Stochastic Gradient Descent: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CBBB8C-932C-BFE7-F116-456C97E5F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379" y="1520007"/>
            <a:ext cx="3887938" cy="937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7A1D0A-DAF0-84F8-046E-7B3FDC6E9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575" y="4953786"/>
            <a:ext cx="3062828" cy="525225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FBE49218-3BD2-AF6F-89CD-3E93990FEA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18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769"/>
    </mc:Choice>
    <mc:Fallback>
      <p:transition spd="slow" advTm="627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FB4D2-0525-0E6F-5B52-FB793988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C3BCB05-4684-7A46-1CFD-B22B789A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80" y="0"/>
            <a:ext cx="10360152" cy="914400"/>
          </a:xfrm>
        </p:spPr>
        <p:txBody>
          <a:bodyPr/>
          <a:lstStyle/>
          <a:p>
            <a:r>
              <a:rPr lang="en-US" sz="3200" dirty="0"/>
              <a:t>EVALUATING NODE2VEC EMBEDDINGS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97F01BB-DA1C-84A3-6652-3E13670B97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6380" y="914399"/>
            <a:ext cx="10859991" cy="563722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NODE CLASSIFICATION: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 task: Predict the political affiliation of users in a social network using only Node2Vec embeddings.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Evaluation metric: Accuracy, F1-score, Macro/Micro AUC.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LINK PREDICTION: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Evaluation metric: ROC-AUC Score, measuring the model’s ability to distinguish between real and non-existent links.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VISUALIZATION OF EMBEDDINGS </a:t>
            </a:r>
            <a:r>
              <a:rPr lang="en-IN" dirty="0"/>
              <a:t>(t-SNE / PCA):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High-dimensional embeddings (𝑑=64) can be projected to 2D space using t-SNE or PCA.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If embeddings form meaningful clusters, it suggests that structurally similar nodes are mapped to nearby locations in the embedding space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.Example task: Visualizing communities in a citation network to see if authors in the same research domain cluster together.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F387EA-E031-ED43-2B66-82F008BC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911" y="1719564"/>
            <a:ext cx="3248478" cy="609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1CBCB6-AC75-F5C2-20C1-59054712F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5904" y="3197980"/>
            <a:ext cx="5658640" cy="914528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A3689C9C-7163-102B-1C5C-A6B5EA42EC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67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891"/>
    </mc:Choice>
    <mc:Fallback>
      <p:transition spd="slow" advTm="538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DFD4-5682-39D1-35CB-E419A020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40E7D9A-65BE-74CF-7F86-1039DF15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80" y="0"/>
            <a:ext cx="10360152" cy="914400"/>
          </a:xfrm>
        </p:spPr>
        <p:txBody>
          <a:bodyPr/>
          <a:lstStyle/>
          <a:p>
            <a:r>
              <a:rPr lang="en-US" dirty="0"/>
              <a:t>NODE2VEC STRENGTHS AND WEAKNESSES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C959889-30F5-6830-4B02-072C4467C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6380" y="914399"/>
            <a:ext cx="10859991" cy="5637229"/>
          </a:xfrm>
        </p:spPr>
        <p:txBody>
          <a:bodyPr>
            <a:normAutofit/>
          </a:bodyPr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STRENGTHS: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 err="1"/>
              <a:t>DeepWalk</a:t>
            </a:r>
            <a:r>
              <a:rPr lang="en-US" dirty="0"/>
              <a:t> performs </a:t>
            </a:r>
            <a:r>
              <a:rPr lang="en-US" b="1" dirty="0"/>
              <a:t>uniform random walks</a:t>
            </a:r>
            <a:r>
              <a:rPr lang="en-US" dirty="0"/>
              <a:t>, where transition probabilities are: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Node2Vec modifies this by using bias parameters pp (return factor) and q (exploration factor):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This allows it to explore graph structures </a:t>
            </a:r>
            <a:r>
              <a:rPr lang="en-US" b="1" dirty="0"/>
              <a:t>more efficiently than </a:t>
            </a:r>
            <a:r>
              <a:rPr lang="en-US" b="1" dirty="0" err="1"/>
              <a:t>DeepWalk</a:t>
            </a:r>
            <a:r>
              <a:rPr lang="en-US" dirty="0"/>
              <a:t>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Unlike </a:t>
            </a:r>
            <a:r>
              <a:rPr lang="en-US" b="1" dirty="0"/>
              <a:t>spectral methods</a:t>
            </a:r>
            <a:r>
              <a:rPr lang="en-US" dirty="0"/>
              <a:t>, which require solving large eigenvalue problems (O(n^3) complexity), </a:t>
            </a:r>
            <a:r>
              <a:rPr lang="en-US" b="1" dirty="0"/>
              <a:t>Node2Vec operates in linear time</a:t>
            </a:r>
            <a:r>
              <a:rPr lang="en-US" dirty="0"/>
              <a:t>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The model is optimized using </a:t>
            </a:r>
            <a:r>
              <a:rPr lang="en-US" b="1" dirty="0"/>
              <a:t>Stochastic Gradient Descent (SGD)</a:t>
            </a:r>
            <a:r>
              <a:rPr lang="en-US" dirty="0"/>
              <a:t>, which allows training on graphs with </a:t>
            </a:r>
            <a:r>
              <a:rPr lang="en-US" b="1" dirty="0"/>
              <a:t>millions of nodes and edges</a:t>
            </a:r>
            <a:r>
              <a:rPr lang="en-US" dirty="0"/>
              <a:t> efficiently.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Unlike </a:t>
            </a:r>
            <a:r>
              <a:rPr lang="en-US" b="1" dirty="0"/>
              <a:t>Graph Neural Networks (GNNs)</a:t>
            </a:r>
            <a:r>
              <a:rPr lang="en-US" dirty="0"/>
              <a:t>, which require labeled data, Node2Vec learns node representations </a:t>
            </a:r>
            <a:r>
              <a:rPr lang="en-US" b="1" dirty="0"/>
              <a:t>without supervision</a:t>
            </a:r>
            <a:r>
              <a:rPr lang="en-US" dirty="0"/>
              <a:t>. This is ideal for scenarios where </a:t>
            </a:r>
            <a:r>
              <a:rPr lang="en-US" b="1" dirty="0"/>
              <a:t>labels are sparse or unavailable</a:t>
            </a:r>
            <a:r>
              <a:rPr lang="en-US" dirty="0"/>
              <a:t>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Node2Vec embeddings can be </a:t>
            </a:r>
            <a:r>
              <a:rPr lang="en-US" b="1" dirty="0"/>
              <a:t>easily plugged into traditional ML models</a:t>
            </a:r>
            <a:r>
              <a:rPr lang="en-US" dirty="0"/>
              <a:t> (e.g., logistic regression, random forests, neural networks).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CD8A1-F6EC-FBB7-1838-8E1E86A5B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107" y="1182136"/>
            <a:ext cx="1345426" cy="513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9920C-66A2-1E17-E633-255EE5C91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8550" y="2066118"/>
            <a:ext cx="1486107" cy="466790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C3C78FD-5CD3-E555-1BE5-E1F64B9D91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02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54"/>
    </mc:Choice>
    <mc:Fallback>
      <p:transition spd="slow" advTm="183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1945-244A-5010-BF3C-3B2C327D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4572B14-E2C3-4607-ED29-D59B12C7A0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6380" y="914399"/>
            <a:ext cx="10859991" cy="5637229"/>
          </a:xfrm>
        </p:spPr>
        <p:txBody>
          <a:bodyPr>
            <a:normAutofit/>
          </a:bodyPr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WEAKNESSES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The performance of Node2Vec is highly dependent on tuning the hyperparameters 𝑝 and 𝑞.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Incorrect parameter selection can lead to poor embeddings that fail to capture meaningful graph structures.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While Node2Vec is </a:t>
            </a:r>
            <a:r>
              <a:rPr lang="en-US" b="1" dirty="0"/>
              <a:t>more scalable than spectral clustering</a:t>
            </a:r>
            <a:r>
              <a:rPr lang="en-US" dirty="0"/>
              <a:t>, generating </a:t>
            </a:r>
            <a:r>
              <a:rPr lang="en-US" b="1" dirty="0"/>
              <a:t>biased random walks</a:t>
            </a:r>
            <a:r>
              <a:rPr lang="en-US" dirty="0"/>
              <a:t> is computationally expensive for large graphs: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Static graph assumption, sometimes unrealistic.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Limited explainability of embeddings.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15462-85B4-BC43-D29E-D5343E88D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852" y="2677628"/>
            <a:ext cx="2881843" cy="316597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D36E8D70-3BBC-36B1-BC49-35499A19E0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47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529"/>
    </mc:Choice>
    <mc:Fallback>
      <p:transition spd="slow" advTm="505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1BA6-B2AE-22C6-60FE-27109294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A3256B3-20AD-C433-DAE0-1A073254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14400"/>
          </a:xfrm>
        </p:spPr>
        <p:txBody>
          <a:bodyPr/>
          <a:lstStyle/>
          <a:p>
            <a:r>
              <a:rPr lang="en-US" dirty="0"/>
              <a:t>EXTENDED RESEARCH DIRECTIONS BASED ON NODE2VEC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4B38F20-138D-AD80-7DDA-9DF8422F8D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76380" y="914399"/>
            <a:ext cx="10859991" cy="5637229"/>
          </a:xfrm>
        </p:spPr>
        <p:txBody>
          <a:bodyPr>
            <a:normAutofit fontScale="85000" lnSpcReduction="20000"/>
          </a:bodyPr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Research Direction 1: Dynamic Graph Embeddings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Node2Vec </a:t>
            </a:r>
            <a:r>
              <a:rPr lang="en-US" b="1" dirty="0"/>
              <a:t>assumes a static graph</a:t>
            </a:r>
            <a:r>
              <a:rPr lang="en-US" dirty="0"/>
              <a:t>, but real-world networks (social networks, web graphs) are constantly evolving.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IN" b="1" dirty="0"/>
              <a:t>Possible Solution:</a:t>
            </a:r>
            <a:r>
              <a:rPr lang="en-IN" dirty="0"/>
              <a:t> </a:t>
            </a:r>
            <a:r>
              <a:rPr lang="en-IN" b="1" dirty="0"/>
              <a:t>Incremental Random Walks</a:t>
            </a: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Research Direction 2: Learning More Expressive Walk Policies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Problem: </a:t>
            </a:r>
            <a:r>
              <a:rPr lang="en-US" dirty="0"/>
              <a:t>The p and q hyperparameters control the walk bias </a:t>
            </a:r>
            <a:r>
              <a:rPr lang="en-US" b="1" dirty="0"/>
              <a:t>manually</a:t>
            </a:r>
            <a:r>
              <a:rPr lang="en-US" dirty="0"/>
              <a:t>. Can we </a:t>
            </a:r>
            <a:r>
              <a:rPr lang="en-US" b="1" dirty="0"/>
              <a:t>learn</a:t>
            </a:r>
            <a:r>
              <a:rPr lang="en-US" dirty="0"/>
              <a:t> these walk biases automatically?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b="1" dirty="0"/>
              <a:t>Solution:</a:t>
            </a:r>
            <a:r>
              <a:rPr lang="en-US" dirty="0"/>
              <a:t> </a:t>
            </a:r>
            <a:r>
              <a:rPr lang="en-US" b="1" dirty="0"/>
              <a:t>Reinforcement Learning for Walk Selection</a:t>
            </a: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Research Direction 3: Improving Interpretability of Embeddings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Problem</a:t>
            </a:r>
            <a:r>
              <a:rPr lang="en-US" dirty="0"/>
              <a:t>: Unlike spectral clustering, Node2Vec embeddings are difficult to interpret.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IN" b="1" dirty="0"/>
              <a:t>Solution:</a:t>
            </a:r>
            <a:r>
              <a:rPr lang="en-IN" dirty="0"/>
              <a:t> </a:t>
            </a:r>
            <a:r>
              <a:rPr lang="en-IN" b="1" dirty="0"/>
              <a:t>Graph Attention Mechanisms (GATs)</a:t>
            </a: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Research Direction 4: Multi-Modal Graph Embeddings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Node2Vec only considers </a:t>
            </a:r>
            <a:r>
              <a:rPr lang="en-US" b="1" dirty="0"/>
              <a:t>graph topology</a:t>
            </a:r>
            <a:r>
              <a:rPr lang="en-US" dirty="0"/>
              <a:t>. Many graphs have </a:t>
            </a:r>
            <a:r>
              <a:rPr lang="en-US" b="1" dirty="0"/>
              <a:t>rich node attributes</a:t>
            </a:r>
            <a:r>
              <a:rPr lang="en-US" dirty="0"/>
              <a:t> (text, images, metadata).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IN" b="1" dirty="0"/>
              <a:t>Solution:</a:t>
            </a:r>
            <a:r>
              <a:rPr lang="en-IN" dirty="0"/>
              <a:t> </a:t>
            </a:r>
            <a:r>
              <a:rPr lang="en-IN" b="1" dirty="0"/>
              <a:t>Heterogeneous Graph Embeddings</a:t>
            </a:r>
            <a:endParaRPr lang="en-US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/>
              <a:t>Research Direction 5: Hybrid Models Combining GNNs &amp; Node2Vec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Problem: </a:t>
            </a:r>
            <a:r>
              <a:rPr lang="en-US" dirty="0"/>
              <a:t>GNNs are powerful but computationally expensive, while Node2Vec is efficient but lacks node feature utilization.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IN" b="1" dirty="0"/>
              <a:t>Solution:</a:t>
            </a:r>
            <a:r>
              <a:rPr lang="en-IN" dirty="0"/>
              <a:t> </a:t>
            </a:r>
            <a:r>
              <a:rPr lang="en-IN" b="1" dirty="0"/>
              <a:t>Graph Hybrid Models</a:t>
            </a:r>
            <a:endParaRPr lang="en-US" dirty="0"/>
          </a:p>
          <a:p>
            <a:pPr marL="1485900" lvl="3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7D6C3A53-AB0B-AB6E-69CE-2086C87B34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86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178"/>
    </mc:Choice>
    <mc:Fallback>
      <p:transition spd="slow" advTm="127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E95E-D2C8-CF4C-4B6E-4D9F7B60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55F02FF-0EFC-E98F-E291-1FC6153574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79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30"/>
    </mc:Choice>
    <mc:Fallback>
      <p:transition spd="slow" advTm="38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purl.org/dc/terms/"/>
    <ds:schemaRef ds:uri="http://schemas.microsoft.com/office/2006/metadata/properties"/>
    <ds:schemaRef ds:uri="http://www.w3.org/XML/1998/namespace"/>
    <ds:schemaRef ds:uri="http://schemas.microsoft.com/sharepoint/v3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{F036DC3D-0E72-4167-ADDF-AA05787AADE4}tf11964407_win32</Template>
  <TotalTime>154</TotalTime>
  <Words>1122</Words>
  <Application>Microsoft Office PowerPoint</Application>
  <PresentationFormat>Widescreen</PresentationFormat>
  <Paragraphs>113</Paragraphs>
  <Slides>11</Slides>
  <Notes>10</Notes>
  <HiddenSlides>0</HiddenSlides>
  <MMClips>11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Custom</vt:lpstr>
      <vt:lpstr>Node2Vec: Scalable Feature Learning for Networks </vt:lpstr>
      <vt:lpstr>PROBLEM STATEMENT</vt:lpstr>
      <vt:lpstr>Node2Vec Technical Breakdown</vt:lpstr>
      <vt:lpstr>FEATURE LEARNING FRAMEWORK</vt:lpstr>
      <vt:lpstr>BIASED RANDOM WALKS</vt:lpstr>
      <vt:lpstr>SKIP-GRAM OPTIMIZATION FOR NODE EMBEDDINGS</vt:lpstr>
      <vt:lpstr>EVALUATING NODE2VEC EMBEDDINGS</vt:lpstr>
      <vt:lpstr>NODE2VEC STRENGTHS AND WEAKNESSES</vt:lpstr>
      <vt:lpstr>PowerPoint Presentation</vt:lpstr>
      <vt:lpstr>EXTENDED RESEARCH DIRECTIONS BASED ON NODE2VEC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Rao</dc:creator>
  <cp:lastModifiedBy>Vishal Rao</cp:lastModifiedBy>
  <cp:revision>33</cp:revision>
  <dcterms:created xsi:type="dcterms:W3CDTF">2025-02-10T14:59:49Z</dcterms:created>
  <dcterms:modified xsi:type="dcterms:W3CDTF">2025-02-10T17:34:05Z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